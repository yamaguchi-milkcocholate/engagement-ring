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jpeg"/><Relationship Id="rId3" Type="http://schemas.openxmlformats.org/officeDocument/2006/relationships/image" Target="../media/image-10-3.jpeg"/><Relationship Id="rId4" Type="http://schemas.openxmlformats.org/officeDocument/2006/relationships/image" Target="../media/image-10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jpeg"/><Relationship Id="rId3" Type="http://schemas.openxmlformats.org/officeDocument/2006/relationships/image" Target="../media/image-11-3.jpeg"/><Relationship Id="rId4" Type="http://schemas.openxmlformats.org/officeDocument/2006/relationships/image" Target="../media/image-11-4.jpeg"/><Relationship Id="rId5" Type="http://schemas.openxmlformats.org/officeDocument/2006/relationships/image" Target="../media/image-11-5.jpeg"/><Relationship Id="rId6" Type="http://schemas.openxmlformats.org/officeDocument/2006/relationships/image" Target="../media/image-11-6.jpe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8B4557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C4916E">
              <a:alpha val="2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一緒に選ぼう！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婚約指輪ガイド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ふたりで最高の一本を見つけよう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D2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今日お話しすること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170432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0" y="11155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2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素材のこと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645920" y="1371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プラチナ？ゴールド？どっちが好み？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31520" y="173736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10512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45920" y="1755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2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ダイヤモンドのこと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645920" y="2011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輝きの基準「4C」をわかりやすく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731520" y="237744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450592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45920" y="2395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2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デザインのこと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645920" y="2651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シンプル派？華やか派？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731520" y="301752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090672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45920" y="3035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2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ブランドのこと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645920" y="32918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人気ブランドを比較してみたよ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731520" y="365760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730752"/>
            <a:ext cx="384048" cy="38404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645920" y="3675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2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地元工房のこと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1645920" y="3931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横浜・鎌倉の手作り＆オーダー工房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731520" y="429768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4370832"/>
            <a:ext cx="384048" cy="38404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645920" y="43159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2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予算のこと</a:t>
            </a:r>
            <a:endParaRPr lang="en-US" sz="1500" dirty="0"/>
          </a:p>
        </p:txBody>
      </p:sp>
      <p:sp>
        <p:nvSpPr>
          <p:cNvPr id="26" name="Text 18"/>
          <p:cNvSpPr/>
          <p:nvPr/>
        </p:nvSpPr>
        <p:spPr>
          <a:xfrm>
            <a:off x="1645920" y="45720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30〜35万円でどんなものが選べる？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D2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素材を選ぼう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6576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3657600" cy="457200"/>
          </a:xfrm>
          <a:prstGeom prst="rect">
            <a:avLst/>
          </a:prstGeom>
          <a:solidFill>
            <a:srgbClr val="3D2B3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プラチナ（Pt900/950）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783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45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70%の人が選ぶ定番素材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白銀色の美しい輝き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変色に非常に強い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ダイヤの輝きを最も引き立てる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純度90〜95%と高い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6576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3657600" cy="457200"/>
          </a:xfrm>
          <a:prstGeom prst="rect">
            <a:avLst/>
          </a:prstGeom>
          <a:solidFill>
            <a:srgbClr val="C4916E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188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ゴールド（K18）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1783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91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近年人気上昇中！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937760" y="219456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イエロー・ピンク・ホワイトの3種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肌馴染みが良い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プラチナより硬くて丈夫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カジュアルにも合わせやすい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どちらも耐久性◎ 普段のアクセの色味で選ぶのがおすすめ！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D2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ダイヤモンドの「4C」って？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9202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234440" y="1371600"/>
            <a:ext cx="914400" cy="914400"/>
          </a:xfrm>
          <a:prstGeom prst="ellipse">
            <a:avLst/>
          </a:prstGeom>
          <a:solidFill>
            <a:srgbClr val="3D2B3D"/>
          </a:solidFill>
          <a:ln/>
        </p:spPr>
      </p:sp>
      <p:sp>
        <p:nvSpPr>
          <p:cNvPr id="5" name="Text 3"/>
          <p:cNvSpPr/>
          <p:nvPr/>
        </p:nvSpPr>
        <p:spPr>
          <a:xfrm>
            <a:off x="1234440" y="1371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カ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2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カラット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Carat = 大きさ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30175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婚約指輪の平均は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0.2〜0.3ct。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0.3ctが一番人気！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931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重要度: ★★★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34640" y="1188720"/>
            <a:ext cx="19202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371600"/>
            <a:ext cx="914400" cy="914400"/>
          </a:xfrm>
          <a:prstGeom prst="ellipse">
            <a:avLst/>
          </a:prstGeom>
          <a:solidFill>
            <a:srgbClr val="3D2B3D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371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カ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926080" y="2377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2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カット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926080" y="2651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= 輝き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71800" y="30175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輝きに直結！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Excellentを選べば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間違いなし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26080" y="3931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重要度: ★★★★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37760" y="1188720"/>
            <a:ext cx="19202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40680" y="1371600"/>
            <a:ext cx="914400" cy="914400"/>
          </a:xfrm>
          <a:prstGeom prst="ellipse">
            <a:avLst/>
          </a:prstGeom>
          <a:solidFill>
            <a:srgbClr val="3D2B3D"/>
          </a:solidFill>
          <a:ln/>
        </p:spPr>
      </p:sp>
      <p:sp>
        <p:nvSpPr>
          <p:cNvPr id="19" name="Text 17"/>
          <p:cNvSpPr/>
          <p:nvPr/>
        </p:nvSpPr>
        <p:spPr>
          <a:xfrm>
            <a:off x="5440680" y="1371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カ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5029200" y="2377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2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カラー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29200" y="2651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= 色味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74920" y="30175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D〜Zの23段階。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G〜Hなら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肉眼で差なし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3931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重要度: ★★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040880" y="1188720"/>
            <a:ext cx="19202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543800" y="1371600"/>
            <a:ext cx="914400" cy="914400"/>
          </a:xfrm>
          <a:prstGeom prst="ellipse">
            <a:avLst/>
          </a:prstGeom>
          <a:solidFill>
            <a:srgbClr val="3D2B3D"/>
          </a:solidFill>
          <a:ln/>
        </p:spPr>
      </p:sp>
      <p:sp>
        <p:nvSpPr>
          <p:cNvPr id="26" name="Text 24"/>
          <p:cNvSpPr/>
          <p:nvPr/>
        </p:nvSpPr>
        <p:spPr>
          <a:xfrm>
            <a:off x="7543800" y="1371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ク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7132320" y="2377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2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クラリティ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132320" y="2651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= 透明度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78040" y="30175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VS2〜SI1なら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内包物は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見えない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32320" y="3931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重要度: ★★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カットとカラットを優先して、カラーとクラリティは中間グレードでOK！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D2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デザインの種類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9202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1920240" cy="73152"/>
          </a:xfrm>
          <a:prstGeom prst="rect">
            <a:avLst/>
          </a:prstGeom>
          <a:solidFill>
            <a:srgbClr val="8B455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2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ソリティア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05840" y="1874520"/>
            <a:ext cx="1371600" cy="274320"/>
          </a:xfrm>
          <a:prstGeom prst="rect">
            <a:avLst/>
          </a:prstGeom>
          <a:solidFill>
            <a:srgbClr val="8B4557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874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人気No.1（55%）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37744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一粒ダイヤが主役。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シンプルで上品。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どんな服にも合う。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34640" y="1188720"/>
            <a:ext cx="19202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834640" y="1188720"/>
            <a:ext cx="1920240" cy="73152"/>
          </a:xfrm>
          <a:prstGeom prst="rect">
            <a:avLst/>
          </a:prstGeom>
          <a:solidFill>
            <a:srgbClr val="8B4557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0" y="1417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2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メレ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108960" y="1874520"/>
            <a:ext cx="1371600" cy="274320"/>
          </a:xfrm>
          <a:prstGeom prst="rect">
            <a:avLst/>
          </a:prstGeom>
          <a:solidFill>
            <a:srgbClr val="8B4557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108960" y="1874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人気2位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71800" y="237744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サイドに小さなダイヤ。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ソリティアより華やか。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全体の輝きUP。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37760" y="1188720"/>
            <a:ext cx="19202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37760" y="1188720"/>
            <a:ext cx="1920240" cy="73152"/>
          </a:xfrm>
          <a:prstGeom prst="rect">
            <a:avLst/>
          </a:prstGeom>
          <a:solidFill>
            <a:srgbClr val="8B4557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1417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2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パヴェ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212080" y="1874520"/>
            <a:ext cx="1371600" cy="274320"/>
          </a:xfrm>
          <a:prstGeom prst="rect">
            <a:avLst/>
          </a:prstGeom>
          <a:solidFill>
            <a:srgbClr val="8B4557">
              <a:alpha val="1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212080" y="1874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ゴージャス派に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74920" y="237744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アームにダイヤを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敷き詰め。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キラキラ度MAX。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040880" y="1188720"/>
            <a:ext cx="19202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040880" y="1188720"/>
            <a:ext cx="1920240" cy="73152"/>
          </a:xfrm>
          <a:prstGeom prst="rect">
            <a:avLst/>
          </a:prstGeom>
          <a:solidFill>
            <a:srgbClr val="8B4557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0" y="1417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2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エタニティ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315200" y="1874520"/>
            <a:ext cx="1371600" cy="274320"/>
          </a:xfrm>
          <a:prstGeom prst="rect">
            <a:avLst/>
          </a:prstGeom>
          <a:solidFill>
            <a:srgbClr val="8B4557">
              <a:alpha val="1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0" y="1874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永遠の象徴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78040" y="237744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全周にダイヤを配置。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結婚指輪にも人気。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重ね付けにも◎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他にもヘイロー（周囲をダイヤで囲む）やスリーストーン（3石）などもあるよ！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D2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ブランド比較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188720"/>
                <a:gridCol w="292608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ブランド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価格帯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特徴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こんな人に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B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銀座ダイヤモンド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シライシ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21万〜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150種以上のデザイン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18000個のダイヤから選べる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選択肢を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重視したい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ティファニー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20万〜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世界5大ジュエラー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憧れブランドNo.1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ブランド力を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重視したい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カルティエ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30万〜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「王の宝石商」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圧倒的な高級感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高級ブランドが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好き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エクセルコ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ダイヤモンド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19万〜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カット品質No.1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コスパ最強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ダイヤの質を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重視したい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NIWAKA（俄）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20万〜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京都発・和の美意識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洗練されたデザイン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和テイストが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好き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4℃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15万〜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手頃な価格帯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普段使いしやすい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シンプルで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普段使いしたい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D2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なぜこの3ブランド？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2560320" cy="73152"/>
          </a:xfrm>
          <a:prstGeom prst="rect">
            <a:avLst/>
          </a:prstGeom>
          <a:solidFill>
            <a:srgbClr val="3D2B3D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417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2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銀座ダイヤモンド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3D2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シライシ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1828800" cy="274320"/>
          </a:xfrm>
          <a:prstGeom prst="rect">
            <a:avLst/>
          </a:prstGeom>
          <a:solidFill>
            <a:srgbClr val="8B4557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48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王道・バランス型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150種以上のデザイン × 18,000個のダイヤから選べるセミオーダー。日本初のブライダルジュエリー専門店。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188720"/>
            <a:ext cx="2560320" cy="73152"/>
          </a:xfrm>
          <a:prstGeom prst="rect">
            <a:avLst/>
          </a:prstGeom>
          <a:solidFill>
            <a:srgbClr val="8B4557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417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2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エクセルコ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3D2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ダイヤモンド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566160" y="2148840"/>
            <a:ext cx="1828800" cy="274320"/>
          </a:xfrm>
          <a:prstGeom prst="rect">
            <a:avLst/>
          </a:prstGeom>
          <a:solidFill>
            <a:srgbClr val="8B4557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2148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ダイヤ品質重視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83280" y="26060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ベルギー発、世界No.1のカット技術。同じ予算でもダイヤの輝きが段違い。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18872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0" y="1188720"/>
            <a:ext cx="2560320" cy="73152"/>
          </a:xfrm>
          <a:prstGeom prst="rect">
            <a:avLst/>
          </a:prstGeom>
          <a:solidFill>
            <a:srgbClr val="C4916E"/>
          </a:solidFill>
          <a:ln/>
        </p:spPr>
      </p:sp>
      <p:sp>
        <p:nvSpPr>
          <p:cNvPr id="17" name="Text 15"/>
          <p:cNvSpPr/>
          <p:nvPr/>
        </p:nvSpPr>
        <p:spPr>
          <a:xfrm>
            <a:off x="6080760" y="1417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2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NIWAKA（俄）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309360" y="2148840"/>
            <a:ext cx="1828800" cy="274320"/>
          </a:xfrm>
          <a:prstGeom prst="rect">
            <a:avLst/>
          </a:prstGeom>
          <a:solidFill>
            <a:srgbClr val="8B4557">
              <a:alpha val="1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2148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デザイン個性派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26480" y="26060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京都発、和の美意識が光る唯一無二のデザイン。日本の情景をモチーフにした名前とストーリーが特徴的。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3つの異なる軸で比較することで、自分に合うスタイルが見つかりやすくなるよ！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D2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銀座ダイヤモンドシライシ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予算内おすすめ商品（0.3ct想定: 30〜35万円）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30352" y="1005840"/>
            <a:ext cx="19659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" y="1097280"/>
            <a:ext cx="1783080" cy="1280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792" y="24688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2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ピュア ブライトネス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21792" y="274320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Brightness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21792" y="29718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260,000円〜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21792" y="32461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ソリティア / ウェーブ / PT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21792" y="3474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光を最大限取り込む繊細な造りで、ピュアな輝きを放つウェーブラインのソリティア。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569464" y="1005840"/>
            <a:ext cx="19659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660904" y="1097280"/>
            <a:ext cx="1783080" cy="12801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60904" y="24688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2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フォーチュン リンク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660904" y="274320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 Link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2660904" y="29718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270,000円〜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660904" y="32461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ソリティア / ウェーブ / PT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2660904" y="3474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運命の絆をイメージ。緩やかなウェーブラインが指にフィットし、4本爪で美しい。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608576" y="1005840"/>
            <a:ext cx="19659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700016" y="1097280"/>
            <a:ext cx="1783080" cy="12801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700016" y="24688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2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ホリミナス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700016" y="274320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Holiminous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4700016" y="29718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300,000円〜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700016" y="32461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ソリティア / ストレート / PT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4700016" y="3474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「ふたりのための神聖な輝き」。ダイヤが浮いているような美しいデザイン。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6647688" y="1005840"/>
            <a:ext cx="19659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739128" y="1097280"/>
            <a:ext cx="1783080" cy="12801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739128" y="24688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2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ブーケ ロココ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6739128" y="274320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Bouquet Rococo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6739128" y="29718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310,000円〜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6739128" y="32461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メレ / 花モチーフ / PT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6739128" y="3474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花束をモチーフに。メレダイヤとアームの絞りでシンプルながら華やか。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価格は最小カラット時の参考価格。0.3ct前後で+3〜5万円が目安です。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D2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エクセルコ ダイヤモンド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予算内おすすめ商品（0.3ct想定: 30〜35万円）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30352" y="1005840"/>
            <a:ext cx="19659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" y="1097280"/>
            <a:ext cx="1783080" cy="1280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792" y="24688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2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オプティーク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21792" y="274320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Optique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21792" y="29718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290,000円〜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21792" y="32461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ソリティア / ウェーブ / PT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21792" y="3474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光学をテーマにしたウェーブライン。メレダイヤがセンターストーンの輝きを引き立てる。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569464" y="1005840"/>
            <a:ext cx="19659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660904" y="1097280"/>
            <a:ext cx="1783080" cy="12801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60904" y="24688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2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レヨン ド リュミエール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660904" y="274320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Rayon de Lumière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2660904" y="29718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290,000円〜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660904" y="32461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ソリティア / ストレート / PT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2660904" y="3474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「光の筋」を意味する名前。ダイヤ本来の輝きを最大限に活かすデザイン。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608576" y="1005840"/>
            <a:ext cx="19659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700016" y="1097280"/>
            <a:ext cx="1783080" cy="12801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700016" y="24688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2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ランプリール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700016" y="274320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Remplir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4700016" y="29718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300,000円〜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700016" y="32461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メレ / V字 / PT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4700016" y="3474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「満たす」を意味するフランス語。V字ラインで指を長く美しく見せる。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6647688" y="1005840"/>
            <a:ext cx="19659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739128" y="1097280"/>
            <a:ext cx="1783080" cy="12801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739128" y="24688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2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エクセルシア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6739128" y="274320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Excelsior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6739128" y="29718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330,000円〜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6739128" y="32461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ソリティア / ストレート / PT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6739128" y="3474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ブランド名を冠した看板モデル。1粒ダイヤを最も美しく見せる究極のソリティア。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価格は最小カラット時の参考価格。0.3ct前後で+3〜5万円が目安です。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D2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NIWAKA（俄）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予算内おすすめ商品（0.3ct想定: 30〜35万円）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30352" y="1005840"/>
            <a:ext cx="19659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" y="1097280"/>
            <a:ext cx="1783080" cy="1280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792" y="24688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2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木洩日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21792" y="274320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KOMOREBI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21792" y="29718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288,200円〜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21792" y="32461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メレ / ウェーブ / Pt950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21792" y="3474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揺らめく水面に輝く光をメレダイヤとウェーブラインで表現した美しいデザイン。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569464" y="1005840"/>
            <a:ext cx="19659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660904" y="1097280"/>
            <a:ext cx="1783080" cy="12801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60904" y="24688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2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露華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660904" y="274320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ROKA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2660904" y="29718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291,500円〜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660904" y="32461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メレ / ウェーブ / Pt950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2660904" y="3474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朝露が光を受けて輝く瞬間をイメージ。繊細なウェーブラインが指を美しく見せる。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608576" y="1005840"/>
            <a:ext cx="19659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700016" y="1097280"/>
            <a:ext cx="1783080" cy="12801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700016" y="24688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2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初桜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700016" y="274320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UIZAKURA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4700016" y="29718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300,300円〜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700016" y="32461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ソリティア / ウェーブ / Pt950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4700016" y="3474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桜の花びらを思わせるやさしいウェーブラインのソリティアリング。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6647688" y="1005840"/>
            <a:ext cx="19659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739128" y="1097280"/>
            <a:ext cx="1783080" cy="12801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739128" y="24688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2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唐花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6739128" y="274320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KARAHANA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6739128" y="29718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313,500円〜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6739128" y="324612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メレ / 花モチーフ / Pt950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6739128" y="3474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唐草模様をモチーフにメレダイヤを配した華やかなデザイン。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価格はハードプラチナ（Pt950）の参考価格。ピンクゴールド・イエローゴールドも選べます。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D2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神奈川ローカル工房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横浜・鎌倉エリアの手作り＆オーダーメイド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37606" y="1005840"/>
            <a:ext cx="12801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7606" y="1005840"/>
            <a:ext cx="1280160" cy="914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83326" y="1965960"/>
            <a:ext cx="1188720" cy="182880"/>
          </a:xfrm>
          <a:prstGeom prst="rect">
            <a:avLst/>
          </a:prstGeom>
          <a:solidFill>
            <a:srgbClr val="C4916E">
              <a:alpha val="15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83326" y="19659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49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鎌倉/横浜元町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83326" y="2194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2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鎌倉彫金工房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83326" y="25146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手作り（鍛造）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483326" y="26974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8万円〜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83326" y="297180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月700組来店。永久保証。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当日持ち帰り可能。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1835331" y="1005840"/>
            <a:ext cx="12801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835331" y="1005840"/>
            <a:ext cx="1280160" cy="9144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881051" y="1965960"/>
            <a:ext cx="1188720" cy="182880"/>
          </a:xfrm>
          <a:prstGeom prst="rect">
            <a:avLst/>
          </a:prstGeom>
          <a:solidFill>
            <a:srgbClr val="C4916E">
              <a:alpha val="1500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1881051" y="19659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49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横浜・関内</a:t>
            </a:r>
            <a:endParaRPr lang="en-US" sz="700" dirty="0"/>
          </a:p>
        </p:txBody>
      </p:sp>
      <p:sp>
        <p:nvSpPr>
          <p:cNvPr id="16" name="Text 12"/>
          <p:cNvSpPr/>
          <p:nvPr/>
        </p:nvSpPr>
        <p:spPr>
          <a:xfrm>
            <a:off x="1881051" y="2194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2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renri（レンリ）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881051" y="25146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手作り/オーダー</a:t>
            </a:r>
            <a:endParaRPr lang="en-US" sz="700" dirty="0"/>
          </a:p>
        </p:txBody>
      </p:sp>
      <p:sp>
        <p:nvSpPr>
          <p:cNvPr id="18" name="Text 14"/>
          <p:cNvSpPr/>
          <p:nvPr/>
        </p:nvSpPr>
        <p:spPr>
          <a:xfrm>
            <a:off x="1881051" y="26974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17.6万〜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1881051" y="297180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デザイナーがヒアリング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からデザイン画を作成。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3233057" y="1005840"/>
            <a:ext cx="12801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233057" y="1005840"/>
            <a:ext cx="1280160" cy="91440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3278777" y="1965960"/>
            <a:ext cx="1188720" cy="182880"/>
          </a:xfrm>
          <a:prstGeom prst="rect">
            <a:avLst/>
          </a:prstGeom>
          <a:solidFill>
            <a:srgbClr val="C4916E">
              <a:alpha val="15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3278777" y="19659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49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横浜元町</a:t>
            </a:r>
            <a:endParaRPr lang="en-US" sz="700" dirty="0"/>
          </a:p>
        </p:txBody>
      </p:sp>
      <p:sp>
        <p:nvSpPr>
          <p:cNvPr id="24" name="Text 19"/>
          <p:cNvSpPr/>
          <p:nvPr/>
        </p:nvSpPr>
        <p:spPr>
          <a:xfrm>
            <a:off x="3278777" y="2194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2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ith（イズ）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3278777" y="25146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フルオーダー</a:t>
            </a:r>
            <a:endParaRPr lang="en-US" sz="700" dirty="0"/>
          </a:p>
        </p:txBody>
      </p:sp>
      <p:sp>
        <p:nvSpPr>
          <p:cNvPr id="26" name="Text 21"/>
          <p:cNvSpPr/>
          <p:nvPr/>
        </p:nvSpPr>
        <p:spPr>
          <a:xfrm>
            <a:off x="3278777" y="26974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14.3万〜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3278777" y="297180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100種以上のサンプル試着。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制作期間約2ヶ月。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4630783" y="1005840"/>
            <a:ext cx="12801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630783" y="1005840"/>
            <a:ext cx="1280160" cy="914400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4676503" y="1965960"/>
            <a:ext cx="1188720" cy="182880"/>
          </a:xfrm>
          <a:prstGeom prst="rect">
            <a:avLst/>
          </a:prstGeom>
          <a:solidFill>
            <a:srgbClr val="C4916E">
              <a:alpha val="15000"/>
            </a:srgbClr>
          </a:solidFill>
          <a:ln/>
        </p:spPr>
      </p:sp>
      <p:sp>
        <p:nvSpPr>
          <p:cNvPr id="31" name="Text 25"/>
          <p:cNvSpPr/>
          <p:nvPr/>
        </p:nvSpPr>
        <p:spPr>
          <a:xfrm>
            <a:off x="4676503" y="19659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49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横浜元町</a:t>
            </a:r>
            <a:endParaRPr lang="en-US" sz="700" dirty="0"/>
          </a:p>
        </p:txBody>
      </p:sp>
      <p:sp>
        <p:nvSpPr>
          <p:cNvPr id="32" name="Text 26"/>
          <p:cNvSpPr/>
          <p:nvPr/>
        </p:nvSpPr>
        <p:spPr>
          <a:xfrm>
            <a:off x="4676503" y="2194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2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鶴（mikoto）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676503" y="25146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セミ〜フルオーダー</a:t>
            </a:r>
            <a:endParaRPr lang="en-US" sz="700" dirty="0"/>
          </a:p>
        </p:txBody>
      </p:sp>
      <p:sp>
        <p:nvSpPr>
          <p:cNvPr id="34" name="Text 28"/>
          <p:cNvSpPr/>
          <p:nvPr/>
        </p:nvSpPr>
        <p:spPr>
          <a:xfrm>
            <a:off x="4676503" y="26974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18.7万〜+石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4676503" y="297180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50,000通り以上の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アレンジが可能。日本製。</a:t>
            </a:r>
            <a:endParaRPr lang="en-US" sz="800" dirty="0"/>
          </a:p>
        </p:txBody>
      </p:sp>
      <p:sp>
        <p:nvSpPr>
          <p:cNvPr id="36" name="Shape 30"/>
          <p:cNvSpPr/>
          <p:nvPr/>
        </p:nvSpPr>
        <p:spPr>
          <a:xfrm>
            <a:off x="6028509" y="1005840"/>
            <a:ext cx="12801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028509" y="1005840"/>
            <a:ext cx="1280160" cy="914400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6074229" y="1965960"/>
            <a:ext cx="1188720" cy="182880"/>
          </a:xfrm>
          <a:prstGeom prst="rect">
            <a:avLst/>
          </a:prstGeom>
          <a:solidFill>
            <a:srgbClr val="C4916E">
              <a:alpha val="15000"/>
            </a:srgbClr>
          </a:solidFill>
          <a:ln/>
        </p:spPr>
      </p:sp>
      <p:sp>
        <p:nvSpPr>
          <p:cNvPr id="39" name="Text 32"/>
          <p:cNvSpPr/>
          <p:nvPr/>
        </p:nvSpPr>
        <p:spPr>
          <a:xfrm>
            <a:off x="6074229" y="19659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49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鎌倉</a:t>
            </a:r>
            <a:endParaRPr lang="en-US" sz="700" dirty="0"/>
          </a:p>
        </p:txBody>
      </p:sp>
      <p:sp>
        <p:nvSpPr>
          <p:cNvPr id="40" name="Text 33"/>
          <p:cNvSpPr/>
          <p:nvPr/>
        </p:nvSpPr>
        <p:spPr>
          <a:xfrm>
            <a:off x="6074229" y="2194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2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CRAFY</a:t>
            </a:r>
            <a:endParaRPr lang="en-US" sz="1000" dirty="0"/>
          </a:p>
        </p:txBody>
      </p:sp>
      <p:sp>
        <p:nvSpPr>
          <p:cNvPr id="41" name="Text 34"/>
          <p:cNvSpPr/>
          <p:nvPr/>
        </p:nvSpPr>
        <p:spPr>
          <a:xfrm>
            <a:off x="6074229" y="25146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手作り</a:t>
            </a:r>
            <a:endParaRPr lang="en-US" sz="700" dirty="0"/>
          </a:p>
        </p:txBody>
      </p:sp>
      <p:sp>
        <p:nvSpPr>
          <p:cNvPr id="42" name="Text 35"/>
          <p:cNvSpPr/>
          <p:nvPr/>
        </p:nvSpPr>
        <p:spPr>
          <a:xfrm>
            <a:off x="6074229" y="26974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5万円台〜</a:t>
            </a:r>
            <a:endParaRPr lang="en-US" sz="1000" dirty="0"/>
          </a:p>
        </p:txBody>
      </p:sp>
      <p:sp>
        <p:nvSpPr>
          <p:cNvPr id="43" name="Text 36"/>
          <p:cNvSpPr/>
          <p:nvPr/>
        </p:nvSpPr>
        <p:spPr>
          <a:xfrm>
            <a:off x="6074229" y="297180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ムービー撮影付き。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永久保証。割引あり。</a:t>
            </a:r>
            <a:endParaRPr lang="en-US" sz="800" dirty="0"/>
          </a:p>
        </p:txBody>
      </p:sp>
      <p:sp>
        <p:nvSpPr>
          <p:cNvPr id="44" name="Shape 37"/>
          <p:cNvSpPr/>
          <p:nvPr/>
        </p:nvSpPr>
        <p:spPr>
          <a:xfrm>
            <a:off x="7426234" y="1005840"/>
            <a:ext cx="12801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426234" y="1005840"/>
            <a:ext cx="1280160" cy="914400"/>
          </a:xfrm>
          <a:prstGeom prst="rect">
            <a:avLst/>
          </a:prstGeom>
        </p:spPr>
      </p:pic>
      <p:sp>
        <p:nvSpPr>
          <p:cNvPr id="46" name="Shape 38"/>
          <p:cNvSpPr/>
          <p:nvPr/>
        </p:nvSpPr>
        <p:spPr>
          <a:xfrm>
            <a:off x="7471954" y="1965960"/>
            <a:ext cx="1188720" cy="182880"/>
          </a:xfrm>
          <a:prstGeom prst="rect">
            <a:avLst/>
          </a:prstGeom>
          <a:solidFill>
            <a:srgbClr val="C4916E">
              <a:alpha val="15000"/>
            </a:srgbClr>
          </a:solidFill>
          <a:ln/>
        </p:spPr>
      </p:sp>
      <p:sp>
        <p:nvSpPr>
          <p:cNvPr id="47" name="Text 39"/>
          <p:cNvSpPr/>
          <p:nvPr/>
        </p:nvSpPr>
        <p:spPr>
          <a:xfrm>
            <a:off x="7471954" y="19659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49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鎌倉・由比ガ浜</a:t>
            </a:r>
            <a:endParaRPr lang="en-US" sz="700" dirty="0"/>
          </a:p>
        </p:txBody>
      </p:sp>
      <p:sp>
        <p:nvSpPr>
          <p:cNvPr id="48" name="Text 40"/>
          <p:cNvSpPr/>
          <p:nvPr/>
        </p:nvSpPr>
        <p:spPr>
          <a:xfrm>
            <a:off x="7471954" y="2194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2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瑠花</a:t>
            </a:r>
            <a:endParaRPr lang="en-US" sz="1000" dirty="0"/>
          </a:p>
        </p:txBody>
      </p:sp>
      <p:sp>
        <p:nvSpPr>
          <p:cNvPr id="49" name="Text 41"/>
          <p:cNvSpPr/>
          <p:nvPr/>
        </p:nvSpPr>
        <p:spPr>
          <a:xfrm>
            <a:off x="7471954" y="25146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手作り/フルオーダー</a:t>
            </a:r>
            <a:endParaRPr lang="en-US" sz="700" dirty="0"/>
          </a:p>
        </p:txBody>
      </p:sp>
      <p:sp>
        <p:nvSpPr>
          <p:cNvPr id="50" name="Text 42"/>
          <p:cNvSpPr/>
          <p:nvPr/>
        </p:nvSpPr>
        <p:spPr>
          <a:xfrm>
            <a:off x="7471954" y="26974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要問合せ</a:t>
            </a:r>
            <a:endParaRPr lang="en-US" sz="1000" dirty="0"/>
          </a:p>
        </p:txBody>
      </p:sp>
      <p:sp>
        <p:nvSpPr>
          <p:cNvPr id="51" name="Text 43"/>
          <p:cNvSpPr/>
          <p:nvPr/>
        </p:nvSpPr>
        <p:spPr>
          <a:xfrm>
            <a:off x="7471954" y="297180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原型職人が直接サポート。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少人数制アトリエ。</a:t>
            </a:r>
            <a:endParaRPr lang="en-US" sz="800" dirty="0"/>
          </a:p>
        </p:txBody>
      </p:sp>
      <p:sp>
        <p:nvSpPr>
          <p:cNvPr id="52" name="Text 4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「鎌倉デート × 指輪作り体験」の組み合わせも素敵な思い出になるかも！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D2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予算イメージ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200400" cy="3200400"/>
          </a:xfrm>
          <a:prstGeom prst="ellipse">
            <a:avLst/>
          </a:prstGeom>
          <a:solidFill>
            <a:srgbClr val="3D2B3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30〜35万円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総予算（オプション込み）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89120" y="1280160"/>
            <a:ext cx="41148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0" y="1325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指輪本体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0" y="1325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25〜33万円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1600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リング枠 + ダイヤモンド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2057400"/>
            <a:ext cx="41148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2103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サイズ調整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0" y="2103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0〜1万円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2377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多くのブランドで初回無料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0" y="2834640"/>
            <a:ext cx="41148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0" y="2880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刻印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0" y="2880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0〜5千円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0" y="3154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購入時は基本無料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89120" y="3611880"/>
            <a:ext cx="41148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クリーニング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0円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0" y="3931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ほとんどのブランドで永久無料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30万円は婚約指輪の一番人気の価格帯。十分にいい指輪が選べるよ！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D2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スケジュール感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822960"/>
            <a:ext cx="7680960" cy="822960"/>
          </a:xfrm>
          <a:prstGeom prst="rect">
            <a:avLst/>
          </a:prstGeom>
          <a:solidFill>
            <a:srgbClr val="FFF9F5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822960"/>
            <a:ext cx="54864" cy="822960"/>
          </a:xfrm>
          <a:prstGeom prst="rect">
            <a:avLst/>
          </a:prstGeom>
          <a:solidFill>
            <a:srgbClr val="C4916E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8412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2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セミオーダーって？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109728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3ブランドともセミオーダー方式が基本。リングの枠とダイヤを別々に選んで組み合わせるスタイル。既製品と同じ価格帯で自分好みの組み合わせを選べます。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2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5/30 プロポーズまでの流れ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51560" y="2240280"/>
            <a:ext cx="457200" cy="457200"/>
          </a:xfrm>
          <a:prstGeom prst="ellipse">
            <a:avLst/>
          </a:prstGeom>
          <a:solidFill>
            <a:srgbClr val="C4916E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965960" y="2468880"/>
            <a:ext cx="274320" cy="0"/>
          </a:xfrm>
          <a:prstGeom prst="line">
            <a:avLst/>
          </a:prstGeom>
          <a:noFill/>
          <a:ln w="25400">
            <a:solidFill>
              <a:srgbClr val="C491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889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9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3月中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017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2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好みを相談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3375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この資料を見て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ブランド・デザインを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絞り込もう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97480" y="2240280"/>
            <a:ext cx="457200" cy="457200"/>
          </a:xfrm>
          <a:prstGeom prst="ellipse">
            <a:avLst/>
          </a:prstGeom>
          <a:solidFill>
            <a:srgbClr val="A86A6A"/>
          </a:solidFill>
          <a:ln/>
        </p:spPr>
      </p:sp>
      <p:sp>
        <p:nvSpPr>
          <p:cNvPr id="15" name="Text 13"/>
          <p:cNvSpPr/>
          <p:nvPr/>
        </p:nvSpPr>
        <p:spPr>
          <a:xfrm>
            <a:off x="269748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611880" y="2468880"/>
            <a:ext cx="274320" cy="0"/>
          </a:xfrm>
          <a:prstGeom prst="line">
            <a:avLst/>
          </a:prstGeom>
          <a:noFill/>
          <a:ln w="25400">
            <a:solidFill>
              <a:srgbClr val="A86A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94560" y="27889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4月上旬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94560" y="3017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2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来店・試着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94560" y="33375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実物を見て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指につけて確認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サイズ測定も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343400" y="2240280"/>
            <a:ext cx="457200" cy="457200"/>
          </a:xfrm>
          <a:prstGeom prst="ellipse">
            <a:avLst/>
          </a:prstGeom>
          <a:solidFill>
            <a:srgbClr val="8B4557"/>
          </a:solidFill>
          <a:ln/>
        </p:spPr>
      </p:sp>
      <p:sp>
        <p:nvSpPr>
          <p:cNvPr id="21" name="Text 19"/>
          <p:cNvSpPr/>
          <p:nvPr/>
        </p:nvSpPr>
        <p:spPr>
          <a:xfrm>
            <a:off x="434340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257800" y="2468880"/>
            <a:ext cx="274320" cy="0"/>
          </a:xfrm>
          <a:prstGeom prst="line">
            <a:avLst/>
          </a:prstGeom>
          <a:noFill/>
          <a:ln w="25400">
            <a:solidFill>
              <a:srgbClr val="8B45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0" y="27889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4月中旬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840480" y="3017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2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注文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840480" y="33375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デザイン+ダイヤを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決定・成約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89320" y="2240280"/>
            <a:ext cx="457200" cy="457200"/>
          </a:xfrm>
          <a:prstGeom prst="ellipse">
            <a:avLst/>
          </a:prstGeom>
          <a:solidFill>
            <a:srgbClr val="6B3A5A"/>
          </a:solidFill>
          <a:ln/>
        </p:spPr>
      </p:sp>
      <p:sp>
        <p:nvSpPr>
          <p:cNvPr id="27" name="Text 25"/>
          <p:cNvSpPr/>
          <p:nvPr/>
        </p:nvSpPr>
        <p:spPr>
          <a:xfrm>
            <a:off x="59893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903720" y="2468880"/>
            <a:ext cx="274320" cy="0"/>
          </a:xfrm>
          <a:prstGeom prst="line">
            <a:avLst/>
          </a:prstGeom>
          <a:noFill/>
          <a:ln w="25400">
            <a:solidFill>
              <a:srgbClr val="6B3A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0" y="27889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3〜4週間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0" y="3017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2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リング製作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0" y="33375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ブランドで仕上げ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刻印やオプション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追加も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635240" y="2240280"/>
            <a:ext cx="457200" cy="457200"/>
          </a:xfrm>
          <a:prstGeom prst="ellipse">
            <a:avLst/>
          </a:prstGeom>
          <a:solidFill>
            <a:srgbClr val="3D2B3D"/>
          </a:solidFill>
          <a:ln/>
        </p:spPr>
      </p:sp>
      <p:sp>
        <p:nvSpPr>
          <p:cNvPr id="33" name="Text 31"/>
          <p:cNvSpPr/>
          <p:nvPr/>
        </p:nvSpPr>
        <p:spPr>
          <a:xfrm>
            <a:off x="763524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132320" y="27889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5月中旬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132320" y="3017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2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受け取り！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132320" y="33375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5/30の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プロポーズに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D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余裕で間に合う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4月中に来店・注文すれば、5/30 に十分間に合います！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D2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8B4557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C4916E">
              <a:alpha val="2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45720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次のステップ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2011680" y="2103120"/>
            <a:ext cx="548640" cy="548640"/>
          </a:xfrm>
          <a:prstGeom prst="ellipse">
            <a:avLst/>
          </a:prstGeom>
          <a:solidFill>
            <a:srgbClr val="8B4557"/>
          </a:solidFill>
          <a:ln/>
        </p:spPr>
      </p:sp>
      <p:sp>
        <p:nvSpPr>
          <p:cNvPr id="7" name="Text 4"/>
          <p:cNvSpPr/>
          <p:nvPr/>
        </p:nvSpPr>
        <p:spPr>
          <a:xfrm>
            <a:off x="201168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2834640" y="2148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気になるブランド・デザインを教えてね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011680" y="2926080"/>
            <a:ext cx="548640" cy="548640"/>
          </a:xfrm>
          <a:prstGeom prst="ellipse">
            <a:avLst/>
          </a:prstGeom>
          <a:solidFill>
            <a:srgbClr val="8B4557"/>
          </a:solidFill>
          <a:ln/>
        </p:spPr>
      </p:sp>
      <p:sp>
        <p:nvSpPr>
          <p:cNvPr id="10" name="Text 7"/>
          <p:cNvSpPr/>
          <p:nvPr/>
        </p:nvSpPr>
        <p:spPr>
          <a:xfrm>
            <a:off x="201168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2834640" y="2971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一緒にお店に行って試着してみよう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2011680" y="3749040"/>
            <a:ext cx="548640" cy="548640"/>
          </a:xfrm>
          <a:prstGeom prst="ellipse">
            <a:avLst/>
          </a:prstGeom>
          <a:solidFill>
            <a:srgbClr val="8B4557"/>
          </a:solidFill>
          <a:ln/>
        </p:spPr>
      </p:sp>
      <p:sp>
        <p:nvSpPr>
          <p:cNvPr id="13" name="Text 10"/>
          <p:cNvSpPr/>
          <p:nvPr/>
        </p:nvSpPr>
        <p:spPr>
          <a:xfrm>
            <a:off x="201168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2834640" y="3794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ふたりで「これだ！」を見つけよう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楽しみながら、一緒に選ぼう！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一緒に選ぼう！婚約指輪ガイド</dc:title>
  <dc:subject>PptxGenJS Presentation</dc:subject>
  <dc:creator>Teppei</dc:creator>
  <cp:lastModifiedBy>Teppei</cp:lastModifiedBy>
  <cp:revision>1</cp:revision>
  <dcterms:created xsi:type="dcterms:W3CDTF">2026-03-13T02:37:06Z</dcterms:created>
  <dcterms:modified xsi:type="dcterms:W3CDTF">2026-03-13T02:37:06Z</dcterms:modified>
</cp:coreProperties>
</file>